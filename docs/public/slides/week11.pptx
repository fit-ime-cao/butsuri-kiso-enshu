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eiryo"/>
              </a:rPr>
              <a:t>等速度運動と等加速度運動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8FAFC"/>
                </a:solidFill>
                <a:latin typeface="Meiryo"/>
              </a:rPr>
              <a:t>物理基礎演習（A クラス）第 11 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🎯 今週の目標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等速度運動の位置・速度・加速度を計算できる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等加速度運動の位置・速度・加速度を計算できる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v-t グラフ、x-t グラフを読み取れる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実際の問題に公式を適用できる</a:t>
            </a:r>
          </a:p>
        </p:txBody>
      </p:sp>
      <p:pic>
        <p:nvPicPr>
          <p:cNvPr id="10" name="Picture 9" descr="slide02_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2743200" cy="3863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eiryo"/>
              </a:rPr>
              <a:t>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eiryo"/>
              </a:rPr>
              <a:t>小テスト（問題）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小テスト：等速度運動の問題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滑らかな水平面上を速さ v₀ = 2.0 m/s で x 軸の正の向きに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等速度運動する質量 m = 0.50 kg の物体がある。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物体が x = 3.0 m の点を通過した時刻を t = 0 s とする。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設問（各1点）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① この物体の加速度は何 m/s² 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② 時刻 t = 2.0 s における位置は何 m 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③ 時刻 t = 1.0 s から t = 3.0 s までの変位は何 m 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④ 物体が x = 11.0 m の点を通過する時刻は何 s 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小テスト：等加速度運動の問題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上記の物体が x = 9.0 m の点に達した瞬間から、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x 軸の負の向きに大きさ F = 0.50 N の一定の力を加え始めた。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力を加え始めた時刻を t = 0 s とする。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設問（各1点）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⑤ この物体の加速度は何 m/s² 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⑥ 時刻 t = 3.0 s における速度は何 m/s 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⑦ 時刻 t = 3.0 s における位置は何 m 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⑧ 時刻 t = 1.0 s から t = 4.0 s までの変位は何 m 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⑨ 速度が v = 0 m/s となる時刻は何 s 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⑩ 物体が x = 8.0 m の点を通過する時刻は何 s 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小テスト（解答）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等速度運動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① 0 m/s²（速度が一定なので加速度はゼロ）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② 7.0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③ 4.0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④ 4.0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等加速度運動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⑤ −1.0 m/s²（負の向きに力がかかる）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⑥ −1.0 m/s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⑦ 10.5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⑧ −1.5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15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⑨ 2.0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⑩ 2+√6 s ≈ 4.45 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760720"/>
            <a:ext cx="8412480" cy="64008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💡 小テストの得点は成績に関係しません。現時点の理解度を測るためのテストです。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eiryo"/>
              </a:rPr>
              <a:t>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eiryo"/>
              </a:rPr>
              <a:t>等速度運動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💡 身の回りの等速度運動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新幹線の巡航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時速 300 km/h で一定速度走行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エスカレーター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一定の速度で上下に移動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飛行機の巡航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高度 10,000 m で時速 900 km/h の定速飛行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宇宙空間の物体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摩擦がない → 永遠に等速度運動を続ける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8412480" cy="64008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💡 速度が変化しない運動 = 等速度運動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等速度運動とは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物体の速度が一定で変化しない運動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（大きさも向きも変化しない）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加速度 a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速度 v = v₀（一定）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合力 F = 0（力がつり合っている）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運動方程式より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89204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651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ma = 0  →  a =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🔢 等速度運動の公式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eiryo"/>
              </a:rPr>
              <a:t>加速度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73152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40AF"/>
                </a:solidFill>
                <a:latin typeface="Meiryo"/>
              </a:rPr>
              <a:t>a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eiryo"/>
              </a:rPr>
              <a:t>速度（一定値）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73152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40AF"/>
                </a:solidFill>
                <a:latin typeface="Meiryo"/>
              </a:rPr>
              <a:t>v = v₀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eiryo"/>
              </a:rPr>
              <a:t>位置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14800"/>
            <a:ext cx="73152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40AF"/>
                </a:solidFill>
                <a:latin typeface="Meiryo"/>
              </a:rPr>
              <a:t>x = x₀ + v₀t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eiryo"/>
              </a:rPr>
              <a:t>v₀：初速度、x₀：初期位置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📐 公式の導出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速度の定義より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v = dx/dt = v₀（一定）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積分して位置を求める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x = ∫v₀ dt = v₀t +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初期条件 t = 0 のとき x = x₀ より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C = x₀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98348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x = x₀ + v₀t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📏 変位の計算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変位とは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時刻 t₁ から t₂ までの位置の変化量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公式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3464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077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Δx = x(t₂) − x(t₁) = v₀(t₂ − t₁)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v₀ = 2.0 m/s のとき、t = 1.0 s から t = 3.0 s の変位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Δx = 2.0 × (3.0 − 1.0) = 4.0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📊 等速度運動のグラフ</a:t>
            </a:r>
          </a:p>
        </p:txBody>
      </p:sp>
      <p:pic>
        <p:nvPicPr>
          <p:cNvPr id="5" name="Picture 4" descr="01_constant_velocity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7011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5303520"/>
            <a:ext cx="841248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x-t グラフ：直線（傾き = v₀）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v-t グラフ：水平線（v = v₀ で一定）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v-t グラフの面積 = 変位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eiryo"/>
              </a:rPr>
              <a:t>✏️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eiryo"/>
              </a:rPr>
              <a:t>小テスト解説：等速度運動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① 物体の加速度は何 m/s² 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等速度運動 → 速度が一定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Meiryo"/>
              </a:rPr>
              <a:t>→ 加速度は変化しない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Meiryo"/>
              </a:rPr>
              <a:t>→ a = 0 m/s²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02920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−1.5 m/s²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② 時刻 t = 2.0 s における位置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初期条件：t = 0 で x₀ = 3.0 m、v₀ = 2.0 m/s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位置の公式：x = x₀ + v₀t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x = 3.0 + 2.0 × 2.0 = 3.0 + 4.0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02920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7.0 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③ t = 1.0 s から t = 3.0 s までの変位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変位 Δx = v₀ × Δt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Δt = 3.0 − 1.0 = 2.0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Δx = 2.0 × 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502920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4.0 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④ x = 11.0 m を通過する時刻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x = x₀ + v₀t より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11.0 = 3.0 + 2.0 ×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2.0t = 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4. t = 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02920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4.0 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eiryo"/>
              </a:rPr>
              <a:t>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eiryo"/>
              </a:rPr>
              <a:t>等加速度運動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💡 身の回りの等加速度運動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自由落下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重力による加速度 g = 9.8 m/s²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車の発進・ブレーキ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一定の力でアクセル/ブレーキを踏む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電車の加減速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駅の発車・到着時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ボールを投げ上げる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重力で減速 → 停止 → 落下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760720"/>
            <a:ext cx="8412480" cy="64008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52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💡 加速度が一定の運動 = 等加速度運動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等加速度運動とは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物体の加速度が一定である運動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特徴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加速度 a = const（一定値）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速度は時間に比例して変化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位置は時間の2乗に比例して変化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運動方程式より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48056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53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ma = F  →  a = F/m = const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🔢 等加速度運動の公式【超重要】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eiryo"/>
              </a:rPr>
              <a:t>速度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73152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40AF"/>
                </a:solidFill>
                <a:latin typeface="Meiryo"/>
              </a:rPr>
              <a:t>v = v₀ +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eiryo"/>
              </a:rPr>
              <a:t>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834640"/>
            <a:ext cx="7315200" cy="7315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E40AF"/>
                </a:solidFill>
                <a:latin typeface="Meiryo"/>
              </a:rPr>
              <a:t>x = x₀ + v₀t + ½at²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5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eiryo"/>
              </a:rPr>
              <a:t>a：加速度（一定）、v₀：初速度、x₀：初期位置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📐 便利な公式（導出は省略可）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時間を含まない公式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v² − v₀² = 2a(x − x₀)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変位の公式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01752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906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Δx = v₀Δt + ½a(Δt)²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平均速度による変位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52628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994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Δx = (v₀ + v)/2 × Δt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5760720"/>
            <a:ext cx="8412480" cy="640080"/>
          </a:xfrm>
          <a:prstGeom prst="roundRect">
            <a:avLst/>
          </a:prstGeom>
          <a:solidFill>
            <a:srgbClr val="FEF9C3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8521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💡 これらは基本公式から導出できます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📐 速度の公式の導出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加速度の定義より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a = dv/dt = const（一定）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積分して速度を求める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v = ∫a dt = at + C₁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初期条件 t = 0 のとき v = v₀ より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C₁ = v₀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98348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v = v₀ + at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📐 位置の公式の導出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速度の定義より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v = dx/dt = v₀ +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積分して位置を求める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x = ∫(v₀ + at)dt = v₀t + ½at² + C₂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初期条件 t = 0 のとき x = x₀ より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C₂ = x₀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983480"/>
            <a:ext cx="8412480" cy="50292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566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x = x₀ + v₀t + ½at²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📊 等加速度運動のグラフ</a:t>
            </a:r>
          </a:p>
        </p:txBody>
      </p:sp>
      <p:pic>
        <p:nvPicPr>
          <p:cNvPr id="5" name="Picture 4" descr="02_constant_accel_graph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70111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5303520"/>
            <a:ext cx="841248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v-t グラフ：直線（傾き = 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x-t グラフ：放物線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Meiryo"/>
              </a:rPr>
              <a:t>v-t グラフの面積 = 変位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⚖️ 等速度運動 vs 等加速度運動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4114800" cy="5029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  <a:latin typeface="Meiryo"/>
              </a:rPr>
              <a:t>等速度運動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• 加速度 a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v = v₀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40AF"/>
                </a:solidFill>
                <a:latin typeface="Meiryo"/>
              </a:rPr>
              <a:t>x = x₀ + v₀t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• v-t グラフ：水平線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• x-t グラフ：直線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914400"/>
            <a:ext cx="4114800" cy="50292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0058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293B"/>
                </a:solidFill>
                <a:latin typeface="Meiryo"/>
              </a:rPr>
              <a:t>等加速度運動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6459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• 加速度 a = const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031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Meiryo"/>
              </a:rPr>
              <a:t>v = v₀ + 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5603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97316"/>
                </a:solidFill>
                <a:latin typeface="Meiryo"/>
              </a:rPr>
              <a:t>x = x₀ + v₀t + ½at²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0175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• v-t グラフ：直線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47472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Meiryo"/>
              </a:rPr>
              <a:t>• x-t グラフ：放物線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eiryo"/>
              </a:rPr>
              <a:t>✏️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eiryo"/>
              </a:rPr>
              <a:t>小テスト解説：等加速度運動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⑤ 物体の加速度は何 m/s² 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運動方程式：ma = 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a = F/m = −0.50/0.50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Meiryo"/>
              </a:rPr>
              <a:t>→ 符号に注意！力は負の向き（x軸の負方向）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−1.0 m/s²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eiryo"/>
              </a:rPr>
              <a:t>💡 力の向きと加速度の向きは同じ！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⑥ t = 3.0 s における速度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初速度 v₀ = 2.0 m/s、加速度 a = −1.0 m/s²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v = v₀ +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v = 2.0 + (−1.0) × 3.0 = 2.0 − 3.0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−1.0 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eiryo"/>
              </a:rPr>
              <a:t>💡 負 = x軸の負の向きに運動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⑦ t = 3.0 s における位置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初期位置 x₀ = 9.0 m、v₀ = 2.0 m/s、a = −1.0 m/s²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x = x₀ + v₀t + ½at²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x = 9.0 + 2.0×3.0 + ½×(−1.0)×3.0²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4. x = 9.0 + 6.0 − 4.5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02920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10.5 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⑧ t = 1.0 s から t = 4.0 s までの変位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x(1.0) = 9.0 + 2.0×1.0 + ½×(−1.0)×1.0² = 10.5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x(4.0) = 9.0 + 2.0×4.0 + ½×(−1.0)×4.0² = 9.0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Meiryo"/>
              </a:rPr>
              <a:t>→ 正方向に進んでから戻ってきた！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4. Δx = x(4.0) − x(1.0) = 9.0 − 10.5 = −1.5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5488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−1.5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eiryo"/>
              </a:rPr>
              <a:t>💡 変位は符号つき。戻った分は負になる。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⑨ v = 0 m/s となる時刻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v = v₀ + at = 0 とおく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2.0 + (−1.0) × t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t = 2.0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75488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2.0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eiryo"/>
              </a:rPr>
              <a:t>💡 この瞬間、物体は折り返す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⑩ x = 8.0 m を通過する時刻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x = x₀ + v₀t + ½at² = 8.0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9.0 + 2.0t − 0.5t² = 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0.5t² − 2.0t − 1.0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4. t² − 4t − 2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5. t = (4 ± √(16+8))/2 = (4 ± √24)/2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Meiryo"/>
              </a:rPr>
              <a:t>→ t &gt; 0 の解だけを採用する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75488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2+√6 s ≈ 4.45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eiryo"/>
              </a:rPr>
              <a:t>💡 いったん x=11.0 m まで進んでから戻り、x=8.0 m を通過する。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FFFFFF"/>
                </a:solidFill>
                <a:latin typeface="Meiryo"/>
              </a:rPr>
              <a:t>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93B"/>
                </a:solidFill>
                <a:latin typeface="Meiryo"/>
              </a:rPr>
              <a:t>演習問題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演習問題：ブレーキ問題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一直線上を速さ v₀ = 20 m/s で走っている自動車に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ブレーキをかけると、一定の大きさの力を受けて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t = 4.0 s で停止した。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設問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① ブレーキをかけてから静止するまでの加速度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② 停止するまでの 4.0 s 間に自動車が進んだ距離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① 加速度を求める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初速度 v₀ = 20 m/s、終速度 v = 0 m/s、時間 t = 4.0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v = v₀ + at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0 = 20 + a × 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4. a = −20/4.0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5488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−5.0 m/s²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eiryo"/>
              </a:rPr>
              <a:t>💡 負 = 減速を表す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② 進んだ距離を求める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方法1：位置の公式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x = v₀t + ½at² = 20×4.0 + ½×(−5.0)×4.0²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x = 80 − 40 = 40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4.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5. 方法2：v²の公式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6. v² − v₀² = 2ax → 0 − 400 = 2×(−5.0)×x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7. x = 400/10 = 40 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502920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40 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演習問題：自由落下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高さ h = 45 m のビルの屋上からボールを静かに落とした。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重力加速度を g = 10 m/s² とする。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設問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① ボールが地面に達するまでの時間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② 地面に達した瞬間の速度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自由落下① 落下時間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初期位置を屋上として下向きを正とする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2. x₀ = 0、v₀ = 0、a = g = 10 m/s²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3. x = ½gt² より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4. 45 = ½ × 10 × t²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5. t² = 9、t = 3.0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502920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51663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3.0 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822960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✏️ 自由落下② 地面到達時の速度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Meiryo"/>
              </a:rPr>
              <a:t>1. v = v₀ + gt = 0 + 10 × 3.0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4754880"/>
            <a:ext cx="5486400" cy="8229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892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✅ 答え: 30 m/s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eiryo"/>
              </a:rPr>
              <a:t>💡 時速に換算すると 108 km/h！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C55E"/>
                </a:solidFill>
                <a:latin typeface="Meiryo"/>
              </a:rPr>
              <a:t>📝 今日のまとめ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✅ 等速度運動：a = 0、v = v₀、x = x₀ + v₀t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6596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✅ 等加速度運動：a = const、v = v₀ + at、x = x₀ + v₀t + ½at²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03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✅ 符号に注意！向きと大きさを区別する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52044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✅ v-t グラフの傾き = 加速度、面積 = 変位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297680"/>
            <a:ext cx="8412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✅ 問題を解く前に必ず初期条件を確認する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93B"/>
                </a:solidFill>
                <a:latin typeface="Meiryo"/>
              </a:rPr>
              <a:t>FIT-AIM 振り返り入力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FIT-AIMにアクセスし、「物理基礎演習」の欄に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本日の小テストの内容、結果、解説の振り返りを入力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「記載欄（講義理解）」のはじめに、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小テストの得点を記載すること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eiryo"/>
              </a:rPr>
              <a:t>記入例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77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（7）今回の小テストの結果、○○○を十分に理解できて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Meiryo"/>
              </a:rPr>
              <a:t>• いないことがわかった。解説を聞いて、......</a:t>
            </a:r>
          </a:p>
        </p:txBody>
      </p:sp>
      <p:pic>
        <p:nvPicPr>
          <p:cNvPr id="15" name="Picture 14" descr="slide31_img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1371600"/>
            <a:ext cx="4572000" cy="45720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eiryo"/>
              </a:rPr>
              <a:t>おつかれさまでした！</a:t>
            </a:r>
          </a:p>
        </p:txBody>
      </p:sp>
      <p:pic>
        <p:nvPicPr>
          <p:cNvPr id="5" name="Picture 4" descr="slide32_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0"/>
            <a:ext cx="2743200" cy="2057400"/>
          </a:xfrm>
          <a:prstGeom prst="rect">
            <a:avLst/>
          </a:prstGeom>
        </p:spPr>
      </p:pic>
      <p:pic>
        <p:nvPicPr>
          <p:cNvPr id="6" name="Picture 5" descr="slide32_img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114800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